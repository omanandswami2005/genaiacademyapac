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36576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228600"/>
            <a:ext cx="2743200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6840" y="25603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Gen AI Academy APAC Hackathon  |  Track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🌍  Travel Guide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59436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8E8"/>
                </a:solidFill>
                <a:latin typeface="Calibri"/>
              </a:rPr>
              <a:t>AI-powered travel assistant using Google ADK + MCP
Connected to real-world APIs via Model Context Protocol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03320"/>
            <a:ext cx="1234440" cy="34747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49039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Google ADK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39112" y="3703320"/>
            <a:ext cx="1755648" cy="34747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1" y="3749039"/>
            <a:ext cx="16642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Gemini 2.5 Flash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59352" y="3703320"/>
            <a:ext cx="626364" cy="34747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5072" y="3749039"/>
            <a:ext cx="5349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0308" y="3703320"/>
            <a:ext cx="1147572" cy="34747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6028" y="3749039"/>
            <a:ext cx="10561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Cloud 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2472" y="3703320"/>
            <a:ext cx="1147572" cy="34747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3749039"/>
            <a:ext cx="10561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Vertex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51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C8FF"/>
                </a:solidFill>
                <a:latin typeface="Calibri"/>
              </a:rPr>
              <a:t>🔗  Live:  https://travel-guide-agent-rnedu666qq-uc.a.run.app/dev-ui/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8E8"/>
                </a:solidFill>
                <a:latin typeface="Calibri"/>
              </a:rPr>
              <a:t>⭐  GitHub:  github.com/omanandswami2005/genaiacademyapac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Omanand Swami  |  March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9260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Problem &amp; 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36576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03520" cy="5029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0352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A4335"/>
                </a:solidFill>
                <a:latin typeface="Calibri"/>
              </a:rPr>
              <a:t>❌ 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Travel info is scattered across 10+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Tourist guides are static &amp; often outdated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LLMs hallucinate travel facts (currencies,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7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   visas, capitals, population figures)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1459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No standardised way for AI agents to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1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   external tools &amp; APIs in real-time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05840"/>
            <a:ext cx="5303520" cy="5029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05840"/>
            <a:ext cx="530352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0789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Calibri"/>
              </a:rPr>
              <a:t>✅  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17320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ADK agent backed by Gemini 2.5 Flash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91640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MCP server as single source of truth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REST Countries API → authoritative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4027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Wikipedia API → rich contextual summaries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1459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Region-aware travel advisory generator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8891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Deployed on Cloud Run — zero cold-start myth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0175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C8FF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Architecture — How MCP Connects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0292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286000" cy="12801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285F4"/>
                </a:solidFill>
                <a:latin typeface="Calibri"/>
              </a:rPr>
              <a:t>👤 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Ask: 'Tell me about Japan'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097280"/>
            <a:ext cx="2560320" cy="12801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0" y="1097280"/>
            <a:ext cx="2560320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17043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Calibri"/>
              </a:rPr>
              <a:t>🤖  ADK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572768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Gemini 2.5 Flash
Vertex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2560320" cy="12801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097280"/>
            <a:ext cx="256032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17043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  <a:latin typeface="Calibri"/>
              </a:rPr>
              <a:t>🔧  MCP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572768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3 Tools via stdio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2286000" cy="12801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200400"/>
            <a:ext cx="2286000" cy="457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735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C05"/>
                </a:solidFill>
                <a:latin typeface="Calibri"/>
              </a:rPr>
              <a:t>🌐  REST Countries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75887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v3.1 API
Facts &amp; Stats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200400"/>
            <a:ext cx="2560320" cy="12801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0" y="3200400"/>
            <a:ext cx="2560320" cy="45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327355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A4335"/>
                </a:solidFill>
                <a:latin typeface="Calibri"/>
              </a:rPr>
              <a:t>📖  Wikipedia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675887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REST summary
endpoint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200400"/>
            <a:ext cx="2560320" cy="12801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200400"/>
            <a:ext cx="2560320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27355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Calibri"/>
              </a:rPr>
              <a:t>🏖️  Travel Tips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675887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Region-aware
advisory 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153619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FF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153619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2487168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FF"/>
                </a:solidFill>
                <a:latin typeface="Calibri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2487168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FF"/>
                </a:solidFill>
                <a:latin typeface="Calibri"/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59" y="2487168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FF"/>
                </a:solidFill>
                <a:latin typeface="Calibri"/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1005840"/>
            <a:ext cx="2743200" cy="5029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1005840"/>
            <a:ext cx="27432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1078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FF"/>
                </a:solidFill>
                <a:latin typeface="Calibri"/>
              </a:rPr>
              <a:t>MCP Protocol Details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15087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Calibri"/>
              </a:rPr>
              <a:t>Transport: stdio (subprocess)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176479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8FF"/>
                </a:solidFill>
                <a:latin typeface="Calibri"/>
              </a:rPr>
              <a:t>get_country_info()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20208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Calibri"/>
              </a:rPr>
              <a:t>  → REST Countries v3.1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227685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Calibri"/>
              </a:rPr>
              <a:t>  → name, capital, pop,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253288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Calibri"/>
              </a:rPr>
              <a:t>    lang, currency, flag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27889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04495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8FF"/>
                </a:solidFill>
                <a:latin typeface="Calibri"/>
              </a:rPr>
              <a:t>get_wikipedia_summary()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30098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Calibri"/>
              </a:rPr>
              <a:t>  → /api/rest_v1/page/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355701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Calibri"/>
              </a:rPr>
              <a:t>    summary/{topic}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381304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40690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8FF"/>
                </a:solidFill>
                <a:latin typeface="Calibri"/>
              </a:rPr>
              <a:t>get_travel_advisory()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43251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Calibri"/>
              </a:rPr>
              <a:t>  → Rule-based generator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458114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Calibri"/>
              </a:rPr>
              <a:t>  → Region-specific tips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MCP?  —  The Core 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411480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120640" cy="25603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120640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Calibri"/>
              </a:rPr>
              <a:t>What is Model Context Protocol?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8D8E8"/>
                </a:solidFill>
                <a:latin typeface="Calibri"/>
              </a:rPr>
              <a:t>• Open standard by Anthropic, adopted by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8D8E8"/>
                </a:solidFill>
                <a:latin typeface="Calibri"/>
              </a:rPr>
              <a:t>• Standardises how AI agents call external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8D8E8"/>
                </a:solidFill>
                <a:latin typeface="Calibri"/>
              </a:rPr>
              <a:t>• Like USB-C for AI: one protocol, any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8D8E8"/>
                </a:solidFill>
                <a:latin typeface="Calibri"/>
              </a:rPr>
              <a:t>• Agent stays decoupled from data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8D8E8"/>
                </a:solidFill>
                <a:latin typeface="Calibri"/>
              </a:rPr>
              <a:t>• Works via JSON-RPC over stdio / HTTP / SSE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5120640" cy="25603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51206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221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A4335"/>
                </a:solidFill>
                <a:latin typeface="Calibri"/>
              </a:rPr>
              <a:t>Without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4754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Every tool needs custom integration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34840"/>
            <a:ext cx="4754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Agent code tangled with API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59"/>
            <a:ext cx="4754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Hard to swap or add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83479"/>
            <a:ext cx="4754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No standard error handling or schemas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49039"/>
            <a:ext cx="5120640" cy="25603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49039"/>
            <a:ext cx="51206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8221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Calibri"/>
              </a:rPr>
              <a:t>With MCP  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4754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Tools are plug-and-play modules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34840"/>
            <a:ext cx="4754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Agent just calls tool by name + args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09159"/>
            <a:ext cx="4754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Add new tools without touching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983479"/>
            <a:ext cx="4754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Typed schemas, standard lifecycle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005840"/>
            <a:ext cx="5577840" cy="256032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FF"/>
                </a:solidFill>
                <a:latin typeface="Calibri"/>
              </a:rPr>
              <a:t>ADK Agent Code  (agent.py)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41732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4A853"/>
                </a:solidFill>
                <a:latin typeface="Calibri"/>
              </a:rPr>
              <a:t>root_agent = LlmAgent(
  model='gemini-2.5-flash',
  name='travel_guide_agent',
  tools=[
    McpToolset(
      connection_params=
        StdioConnectionParams(
          server_params=
            StdioServerParameters(
              command=sys.executable,
              args=[MCP_SERVER_PATH]
            )
        )
    )
  ]
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Live Demo &amp; Real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3200400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698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C05"/>
                </a:solidFill>
                <a:latin typeface="Calibri"/>
              </a:rPr>
              <a:t>User asks:  'Tell me about Japan'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411480" cy="4114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099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285F4"/>
                </a:solidFill>
                <a:latin typeface="Calibri"/>
              </a:rPr>
              <a:t>get_country_info('Japan')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71907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8D8E8"/>
                </a:solidFill>
                <a:latin typeface="Calibri"/>
              </a:rPr>
              <a:t>Capital: Tokyo  |  Pop: 123M  |  Currency: JPY  |  Language: Japanese  |  Region: Asia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48840"/>
            <a:ext cx="11430000" cy="9144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40280"/>
            <a:ext cx="411480" cy="4114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585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677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853"/>
                </a:solidFill>
                <a:latin typeface="Calibri"/>
              </a:rPr>
              <a:t>get_wikipedia_summary('Japan')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26771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8D8E8"/>
                </a:solidFill>
                <a:latin typeface="Calibri"/>
              </a:rPr>
              <a:t>'Japan is an island country in East Asia... Tokyo is the country's capital and largest city'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97480"/>
            <a:ext cx="11430000" cy="9144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411480" cy="4114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8072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8163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A4335"/>
                </a:solidFill>
                <a:latin typeface="Calibri"/>
              </a:rPr>
              <a:t>get_travel_advisory('Japan')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81635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8D8E8"/>
                </a:solidFill>
                <a:latin typeface="Calibri"/>
              </a:rPr>
              <a:t>Located in Eastern Asia • Currency: Japanese Yen • Pop: 123M • 'Check visa requirements in advance'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46120"/>
            <a:ext cx="11430000" cy="9144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337560"/>
            <a:ext cx="411480" cy="411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3558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3649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FF"/>
                </a:solidFill>
                <a:latin typeface="Calibri"/>
              </a:rPr>
              <a:t>Agent combines &amp; responds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36499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8D8E8"/>
                </a:solidFill>
                <a:latin typeface="Calibri"/>
              </a:rPr>
              <a:t>Rich, formatted travel guide with facts, context, and practical tips — all grounded in live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94760"/>
            <a:ext cx="11430000" cy="9144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029200"/>
            <a:ext cx="2103120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029200"/>
            <a:ext cx="210312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1023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285F4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577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D8E8"/>
                </a:solidFill>
                <a:latin typeface="Calibri"/>
              </a:rPr>
              <a:t>MCP Tools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24327" y="5029200"/>
            <a:ext cx="2103120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24327" y="5029200"/>
            <a:ext cx="210312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24327" y="51023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4A853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24327" y="5577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D8E8"/>
                </a:solidFill>
                <a:latin typeface="Calibri"/>
              </a:rPr>
              <a:t>Live APIs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82896" y="5029200"/>
            <a:ext cx="2103120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82896" y="5029200"/>
            <a:ext cx="2103120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82896" y="51023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BBC05"/>
                </a:solidFill>
                <a:latin typeface="Calibri"/>
              </a:rPr>
              <a:t>&lt; 5s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82896" y="5577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D8E8"/>
                </a:solidFill>
                <a:latin typeface="Calibri"/>
              </a:rPr>
              <a:t>Response 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41464" y="5029200"/>
            <a:ext cx="2103120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41464" y="5029200"/>
            <a:ext cx="210312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41464" y="51023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A4335"/>
                </a:solidFill>
                <a:latin typeface="Calibri"/>
              </a:rPr>
              <a:t>Cloud Run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41464" y="5577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D8E8"/>
                </a:solidFill>
                <a:latin typeface="Calibri"/>
              </a:rPr>
              <a:t>Serverless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00032" y="5029200"/>
            <a:ext cx="2103120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00032" y="5029200"/>
            <a:ext cx="210312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00032" y="51023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8FF"/>
                </a:solidFill>
                <a:latin typeface="Calibri"/>
              </a:rPr>
              <a:t>Gemini 2.5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00032" y="5577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D8E8"/>
                </a:solidFill>
                <a:latin typeface="Calibri"/>
              </a:rPr>
              <a:t>Flash LLM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6309360"/>
            <a:ext cx="5943600" cy="3657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46120" y="633679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🔗  https://travel-guide-agent-rnedu666qq-uc.a.run.app/dev-ui/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Technical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32004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474720" cy="2743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47472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285F4"/>
                </a:solidFill>
                <a:latin typeface="Calibri"/>
              </a:rPr>
              <a:t>ADK Agent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LlmAgent with McpToolset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Gemini 2.5 Flash via Vertex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System instruction with tool usage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79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FastAPI server via get_fast_api_app()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14599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SQLite session persistence (aiosqlite)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3474720" cy="2743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005840"/>
            <a:ext cx="347472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078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  <a:latin typeface="Calibri"/>
              </a:rPr>
              <a:t>MCP Server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41732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mcp.server.lowlevel.Server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69164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stdio transport (subprocess)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96596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3 tools with JSON schemas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240279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httpx async HTTP 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514599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Proper User-Agent for Wikipedia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1005840"/>
            <a:ext cx="4023360" cy="2743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1005840"/>
            <a:ext cx="402336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107899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Calibri"/>
              </a:rPr>
              <a:t>Infrastructure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14173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Cloud Run (us-central1) — serverless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16916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python:3.12-slim Docker image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19659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Non-root container user (security)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2240279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1Gi memory, 300s timeout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2514599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Artifact Registry + Cloud 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2788919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Vertex AI (GOOGLE_GENAI_USE_VERTEXAI=True)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931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FF"/>
                </a:solidFill>
                <a:latin typeface="Calibri"/>
              </a:rPr>
              <a:t>Key Engineering Decisions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480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5"/>
                </a:solidFill>
                <a:latin typeface="Calibri"/>
              </a:rPr>
              <a:t>› stdio MCP transport: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480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Simpler than HTTP-SSE; agent and server co-locate in same container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646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5"/>
                </a:solidFill>
                <a:latin typeface="Calibri"/>
              </a:rPr>
              <a:t>› sys.executable as command: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8646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Ensures MCP server uses the same Python/venv as the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2486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5"/>
                </a:solidFill>
                <a:latin typeface="Calibri"/>
              </a:rPr>
              <a:t>› Synchronous root_agent: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2486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Required for Cloud Run: async agents cause deployment issues in ADK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327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5"/>
                </a:solidFill>
                <a:latin typeface="Calibri"/>
              </a:rPr>
              <a:t>› Wikipedia User-Agent: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563270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Wikimedia bot policy requires contact email to avoid 403 responses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Learnings &amp;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365760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03520" cy="45720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0352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Calibri"/>
              </a:rPr>
              <a:t>🎓  What I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MCP = 'USB-C for AI tools' — plug 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  data source into any ADK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7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ADK structures agent dev like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1459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  engineering — clear separation of concerns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1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6323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Cloud Run + ADK = zero-ops deployment: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755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  just gcloud run deploy --source 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1187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8619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Wikimedia API requires proper User-Agent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1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  (contact email) — API etiquette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3483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5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Stdio MCP is simpler than HTTP-SSE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8347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  single-container deployments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005840"/>
            <a:ext cx="5303520" cy="45720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005840"/>
            <a:ext cx="530352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0789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285F4"/>
                </a:solidFill>
                <a:latin typeface="Calibri"/>
              </a:rPr>
              <a:t>🚀  Future Enhancements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417320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Flight &amp; hotel data via Amadeus MCP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691640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Google Maps Places API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965960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Currency conversion (live rates)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24027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Weather forecast 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51459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78891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Multi-language responses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06323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Voice interaction via Gemini Live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33755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Chrome extension as UI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1187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8619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Swap stdio → HTTP-SSE for multi-agent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16051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  orchestration (A2A protocol)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434839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• Add evaluation with ADK EvalSets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5943600"/>
            <a:ext cx="7315200" cy="5943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31720" y="598932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🌐  Try it live:  https://travel-guide-agent-rnedu666qq-uc.a.run.app/dev-ui/     ⭐  github.com/omanandswami2005/genaiacademyapac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